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4"/>
  </p:sldMasterIdLst>
  <p:handoutMasterIdLst>
    <p:handoutMasterId r:id="rId6"/>
  </p:handoutMasterIdLst>
  <p:sldIdLst>
    <p:sldId id="262" r:id="rId5"/>
  </p:sldIdLst>
  <p:sldSz cx="43200638" cy="30708600"/>
  <p:notesSz cx="6858000" cy="9144000"/>
  <p:defaultTextStyle>
    <a:defPPr>
      <a:defRPr lang="en-US"/>
    </a:defPPr>
    <a:lvl1pPr marL="0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1pPr>
    <a:lvl2pPr marL="2110995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2pPr>
    <a:lvl3pPr marL="4221991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3pPr>
    <a:lvl4pPr marL="6332985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4pPr>
    <a:lvl5pPr marL="8443982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5pPr>
    <a:lvl6pPr marL="10554975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6pPr>
    <a:lvl7pPr marL="12665968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7pPr>
    <a:lvl8pPr marL="14776966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8pPr>
    <a:lvl9pPr marL="16887960" algn="l" defTabSz="2110995" rtl="0" eaLnBrk="1" latinLnBrk="0" hangingPunct="1">
      <a:defRPr sz="83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10" userDrawn="1">
          <p15:clr>
            <a:srgbClr val="A4A3A4"/>
          </p15:clr>
        </p15:guide>
        <p15:guide id="3" pos="8980" userDrawn="1">
          <p15:clr>
            <a:srgbClr val="5ACBF0"/>
          </p15:clr>
        </p15:guide>
        <p15:guide id="4" pos="9501" userDrawn="1">
          <p15:clr>
            <a:srgbClr val="5ACBF0"/>
          </p15:clr>
        </p15:guide>
        <p15:guide id="5" pos="17666" userDrawn="1">
          <p15:clr>
            <a:srgbClr val="5ACBF0"/>
          </p15:clr>
        </p15:guide>
        <p15:guide id="6" pos="18188" userDrawn="1">
          <p15:clr>
            <a:srgbClr val="5ACBF0"/>
          </p15:clr>
        </p15:guide>
        <p15:guide id="7" orient="horz" pos="9672" userDrawn="1">
          <p15:clr>
            <a:srgbClr val="A4A3A4"/>
          </p15:clr>
        </p15:guide>
        <p15:guide id="8" orient="horz" pos="9772" userDrawn="1">
          <p15:clr>
            <a:srgbClr val="A4A3A4"/>
          </p15:clr>
        </p15:guide>
        <p15:guide id="9" orient="horz" pos="47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E3D"/>
    <a:srgbClr val="8D8C93"/>
    <a:srgbClr val="FFFEF0"/>
    <a:srgbClr val="FFF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50"/>
    <p:restoredTop sz="96110"/>
  </p:normalViewPr>
  <p:slideViewPr>
    <p:cSldViewPr snapToGrid="0" snapToObjects="1" showGuides="1">
      <p:cViewPr varScale="1">
        <p:scale>
          <a:sx n="22" d="100"/>
          <a:sy n="22" d="100"/>
        </p:scale>
        <p:origin x="1480" y="648"/>
      </p:cViewPr>
      <p:guideLst>
        <p:guide orient="horz" pos="4410"/>
        <p:guide pos="8980"/>
        <p:guide pos="9501"/>
        <p:guide pos="17666"/>
        <p:guide pos="18188"/>
        <p:guide orient="horz" pos="9672"/>
        <p:guide orient="horz" pos="9772"/>
        <p:guide orient="horz" pos="47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8" d="100"/>
          <a:sy n="148" d="100"/>
        </p:scale>
        <p:origin x="404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98-3448-B8B4-0C0B1ADDFA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98-3448-B8B4-0C0B1ADDFA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98-3448-B8B4-0C0B1ADDF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4741631"/>
        <c:axId val="234798511"/>
      </c:barChart>
      <c:catAx>
        <c:axId val="234741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798511"/>
        <c:crosses val="autoZero"/>
        <c:auto val="1"/>
        <c:lblAlgn val="ctr"/>
        <c:lblOffset val="100"/>
        <c:noMultiLvlLbl val="0"/>
      </c:catAx>
      <c:valAx>
        <c:axId val="234798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4741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60D4DD-CA0F-7F45-88ED-F7AEBDDD7E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F7EBE-B50A-D443-AE2A-42132C68EF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E77E8-BC33-C74B-9CC2-F4DA69E5A52A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BC9B-62AA-6E4E-A277-0530773DB7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A0097-E9AC-BF4A-BC41-E2EEC52F72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5D8E1-1850-A643-B7A4-6A6AA6A07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98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ademic Poster Landscap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83F72DE-17BF-9A43-8070-7D0E804C2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3813" y="5821680"/>
            <a:ext cx="40613012" cy="21761330"/>
          </a:xfrm>
        </p:spPr>
        <p:txBody>
          <a:bodyPr lIns="0" tIns="0" rIns="0" bIns="0">
            <a:noAutofit/>
          </a:bodyPr>
          <a:lstStyle>
            <a:lvl1pPr marL="0" marR="0" indent="0" algn="l" defTabSz="1377877" rtl="0" eaLnBrk="1" fontAlgn="auto" latinLnBrk="0" hangingPunct="1">
              <a:lnSpc>
                <a:spcPct val="90000"/>
              </a:lnSpc>
              <a:spcBef>
                <a:spcPts val="1507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0" baseline="0">
                <a:solidFill>
                  <a:srgbClr val="000000"/>
                </a:solidFill>
                <a:latin typeface="+mn-lt"/>
              </a:defRPr>
            </a:lvl1pPr>
            <a:lvl2pPr marL="688938" indent="0" algn="l">
              <a:buFontTx/>
              <a:buNone/>
              <a:defRPr sz="2993">
                <a:solidFill>
                  <a:srgbClr val="271E3D"/>
                </a:solidFill>
                <a:latin typeface="+mn-lt"/>
              </a:defRPr>
            </a:lvl2pPr>
            <a:lvl3pPr marL="1377877" indent="0" algn="l">
              <a:buFontTx/>
              <a:buNone/>
              <a:defRPr sz="1996">
                <a:solidFill>
                  <a:srgbClr val="271E3D"/>
                </a:solidFill>
                <a:latin typeface="+mn-lt"/>
              </a:defRPr>
            </a:lvl3pPr>
            <a:lvl4pPr marL="2066813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4pPr>
            <a:lvl5pPr marL="2755752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238D90-7700-5182-68CF-D75C4403A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83409" y="1317516"/>
            <a:ext cx="7123416" cy="3650077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F566A0-7F52-6953-A104-0F73D1E2CC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3813" y="1018575"/>
            <a:ext cx="20994687" cy="347047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600" baseline="0">
                <a:solidFill>
                  <a:srgbClr val="271E3D"/>
                </a:solidFill>
                <a:latin typeface="+mj-lt"/>
              </a:defRPr>
            </a:lvl1pPr>
            <a:lvl2pPr marL="975416" indent="0" algn="ctr">
              <a:buFontTx/>
              <a:buNone/>
              <a:defRPr sz="22763">
                <a:solidFill>
                  <a:schemeClr val="bg1"/>
                </a:solidFill>
                <a:latin typeface="+mj-lt"/>
              </a:defRPr>
            </a:lvl2pPr>
            <a:lvl3pPr marL="1950836" indent="0" algn="ctr">
              <a:buFontTx/>
              <a:buNone/>
              <a:defRPr sz="20488">
                <a:solidFill>
                  <a:schemeClr val="bg1"/>
                </a:solidFill>
                <a:latin typeface="+mj-lt"/>
              </a:defRPr>
            </a:lvl3pPr>
            <a:lvl4pPr marL="2926253" indent="0" algn="ctr">
              <a:buFontTx/>
              <a:buNone/>
              <a:defRPr sz="18781">
                <a:solidFill>
                  <a:schemeClr val="bg1"/>
                </a:solidFill>
                <a:latin typeface="+mj-lt"/>
              </a:defRPr>
            </a:lvl4pPr>
            <a:lvl5pPr marL="3901670" indent="0" algn="ctr">
              <a:buFontTx/>
              <a:buNone/>
              <a:defRPr sz="1878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Title of your work here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B5572D7-4DCA-D0FB-FF7E-4D9DA8A6C9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3811" y="4527514"/>
            <a:ext cx="20994687" cy="553998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buFontTx/>
              <a:buNone/>
              <a:defRPr sz="4000" baseline="0">
                <a:solidFill>
                  <a:srgbClr val="271E3D"/>
                </a:solidFill>
                <a:latin typeface="Arial" panose="020B0604020202020204" pitchFamily="34" charset="0"/>
              </a:defRPr>
            </a:lvl1pPr>
            <a:lvl2pPr marL="688937" indent="0" algn="ctr">
              <a:buFontTx/>
              <a:buNone/>
              <a:defRPr sz="16078">
                <a:solidFill>
                  <a:schemeClr val="bg1"/>
                </a:solidFill>
                <a:latin typeface="+mj-lt"/>
              </a:defRPr>
            </a:lvl2pPr>
            <a:lvl3pPr marL="1377876" indent="0" algn="ctr">
              <a:buFontTx/>
              <a:buNone/>
              <a:defRPr sz="14471">
                <a:solidFill>
                  <a:schemeClr val="bg1"/>
                </a:solidFill>
                <a:latin typeface="+mj-lt"/>
              </a:defRPr>
            </a:lvl3pPr>
            <a:lvl4pPr marL="2066811" indent="0" algn="ctr">
              <a:buFontTx/>
              <a:buNone/>
              <a:defRPr sz="13264">
                <a:solidFill>
                  <a:schemeClr val="bg1"/>
                </a:solidFill>
                <a:latin typeface="+mj-lt"/>
              </a:defRPr>
            </a:lvl4pPr>
            <a:lvl5pPr marL="2755750" indent="0" algn="ctr">
              <a:buFontTx/>
              <a:buNone/>
              <a:defRPr sz="1326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A detailed subtitle here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E0010E-6C5D-9595-80EF-C1759515B368}"/>
              </a:ext>
            </a:extLst>
          </p:cNvPr>
          <p:cNvCxnSpPr>
            <a:cxnSpLocks/>
          </p:cNvCxnSpPr>
          <p:nvPr userDrawn="1"/>
        </p:nvCxnSpPr>
        <p:spPr>
          <a:xfrm>
            <a:off x="1293811" y="28347768"/>
            <a:ext cx="40576502" cy="0"/>
          </a:xfrm>
          <a:prstGeom prst="line">
            <a:avLst/>
          </a:prstGeom>
          <a:ln w="31750">
            <a:solidFill>
              <a:srgbClr val="271E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A48BA29-AD62-ED3E-30E2-A0FD6AD654CD}"/>
              </a:ext>
            </a:extLst>
          </p:cNvPr>
          <p:cNvGrpSpPr/>
          <p:nvPr userDrawn="1"/>
        </p:nvGrpSpPr>
        <p:grpSpPr>
          <a:xfrm>
            <a:off x="37049328" y="28784770"/>
            <a:ext cx="4846812" cy="1923830"/>
            <a:chOff x="24083371" y="41132715"/>
            <a:chExt cx="4846812" cy="19238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7DD44B-E066-AEA5-E539-F8FA1E5E9728}"/>
                </a:ext>
              </a:extLst>
            </p:cNvPr>
            <p:cNvSpPr/>
            <p:nvPr userDrawn="1"/>
          </p:nvSpPr>
          <p:spPr>
            <a:xfrm>
              <a:off x="24083371" y="41132715"/>
              <a:ext cx="4846812" cy="1923830"/>
            </a:xfrm>
            <a:prstGeom prst="rect">
              <a:avLst/>
            </a:prstGeom>
            <a:solidFill>
              <a:srgbClr val="271E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13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B7B528-E4DA-25E8-048B-0BBA4DE0F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537327" y="41739405"/>
              <a:ext cx="3936074" cy="414323"/>
            </a:xfrm>
            <a:prstGeom prst="rect">
              <a:avLst/>
            </a:prstGeom>
          </p:spPr>
        </p:pic>
      </p:grp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765617A-9FF7-D5B1-341B-E1B740A693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813" y="28808619"/>
            <a:ext cx="32427475" cy="1580003"/>
          </a:xfrm>
        </p:spPr>
        <p:txBody>
          <a:bodyPr lIns="0" tIns="0" rIns="0" bIns="0">
            <a:noAutofit/>
          </a:bodyPr>
          <a:lstStyle>
            <a:lvl1pPr marL="0" marR="0" indent="0" algn="l" defTabSz="1377877" rtl="0" eaLnBrk="1" fontAlgn="auto" latinLnBrk="0" hangingPunct="1">
              <a:lnSpc>
                <a:spcPct val="90000"/>
              </a:lnSpc>
              <a:spcBef>
                <a:spcPts val="1507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92" b="0" baseline="0">
                <a:solidFill>
                  <a:srgbClr val="271E3D"/>
                </a:solidFill>
                <a:latin typeface="+mn-lt"/>
              </a:defRPr>
            </a:lvl1pPr>
            <a:lvl2pPr marL="688938" indent="0" algn="l">
              <a:buFontTx/>
              <a:buNone/>
              <a:defRPr sz="2993">
                <a:solidFill>
                  <a:srgbClr val="271E3D"/>
                </a:solidFill>
                <a:latin typeface="+mn-lt"/>
              </a:defRPr>
            </a:lvl2pPr>
            <a:lvl3pPr marL="1377877" indent="0" algn="l">
              <a:buFontTx/>
              <a:buNone/>
              <a:defRPr sz="1996">
                <a:solidFill>
                  <a:srgbClr val="271E3D"/>
                </a:solidFill>
                <a:latin typeface="+mn-lt"/>
              </a:defRPr>
            </a:lvl3pPr>
            <a:lvl4pPr marL="2066813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4pPr>
            <a:lvl5pPr marL="2755752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add authors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3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15" userDrawn="1">
          <p15:clr>
            <a:srgbClr val="FBAE40"/>
          </p15:clr>
        </p15:guide>
        <p15:guide id="3" pos="26398" userDrawn="1">
          <p15:clr>
            <a:srgbClr val="FBAE40"/>
          </p15:clr>
        </p15:guide>
        <p15:guide id="4" orient="horz" pos="147" userDrawn="1">
          <p15:clr>
            <a:srgbClr val="C35EA4"/>
          </p15:clr>
        </p15:guide>
        <p15:guide id="5" orient="horz" pos="18517" userDrawn="1">
          <p15:clr>
            <a:srgbClr val="FBAE40"/>
          </p15:clr>
        </p15:guide>
        <p15:guide id="7" orient="horz" pos="827" userDrawn="1">
          <p15:clr>
            <a:srgbClr val="FBAE40"/>
          </p15:clr>
        </p15:guide>
        <p15:guide id="10" pos="135" userDrawn="1">
          <p15:clr>
            <a:srgbClr val="C35EA4"/>
          </p15:clr>
        </p15:guide>
        <p15:guide id="11" pos="27078" userDrawn="1">
          <p15:clr>
            <a:srgbClr val="C35EA4"/>
          </p15:clr>
        </p15:guide>
        <p15:guide id="12" orient="horz" pos="3118" userDrawn="1">
          <p15:clr>
            <a:srgbClr val="FBAE40"/>
          </p15:clr>
        </p15:guide>
        <p15:guide id="13" orient="horz" pos="19197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ademic Poster Landscap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3E0776-B07E-A6DA-5B5F-B553EA9955E7}"/>
              </a:ext>
            </a:extLst>
          </p:cNvPr>
          <p:cNvSpPr/>
          <p:nvPr userDrawn="1"/>
        </p:nvSpPr>
        <p:spPr>
          <a:xfrm>
            <a:off x="0" y="1"/>
            <a:ext cx="43200638" cy="30708600"/>
          </a:xfrm>
          <a:prstGeom prst="rect">
            <a:avLst/>
          </a:prstGeom>
          <a:solidFill>
            <a:srgbClr val="E9E8E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13" dirty="0">
              <a:solidFill>
                <a:srgbClr val="271E3D"/>
              </a:solidFill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83F72DE-17BF-9A43-8070-7D0E804C2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3813" y="5821680"/>
            <a:ext cx="40613012" cy="21761330"/>
          </a:xfrm>
        </p:spPr>
        <p:txBody>
          <a:bodyPr lIns="0" tIns="0" rIns="0" bIns="0">
            <a:noAutofit/>
          </a:bodyPr>
          <a:lstStyle>
            <a:lvl1pPr marL="0" marR="0" indent="0" algn="l" defTabSz="1377877" rtl="0" eaLnBrk="1" fontAlgn="auto" latinLnBrk="0" hangingPunct="1">
              <a:lnSpc>
                <a:spcPct val="90000"/>
              </a:lnSpc>
              <a:spcBef>
                <a:spcPts val="1507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0" baseline="0">
                <a:solidFill>
                  <a:srgbClr val="000000"/>
                </a:solidFill>
                <a:latin typeface="+mn-lt"/>
              </a:defRPr>
            </a:lvl1pPr>
            <a:lvl2pPr marL="688938" indent="0" algn="l">
              <a:buFontTx/>
              <a:buNone/>
              <a:defRPr sz="2993">
                <a:solidFill>
                  <a:srgbClr val="271E3D"/>
                </a:solidFill>
                <a:latin typeface="+mn-lt"/>
              </a:defRPr>
            </a:lvl2pPr>
            <a:lvl3pPr marL="1377877" indent="0" algn="l">
              <a:buFontTx/>
              <a:buNone/>
              <a:defRPr sz="1996">
                <a:solidFill>
                  <a:srgbClr val="271E3D"/>
                </a:solidFill>
                <a:latin typeface="+mn-lt"/>
              </a:defRPr>
            </a:lvl3pPr>
            <a:lvl4pPr marL="2066813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4pPr>
            <a:lvl5pPr marL="2755752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238D90-7700-5182-68CF-D75C4403A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83409" y="1332133"/>
            <a:ext cx="7123416" cy="3620842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F566A0-7F52-6953-A104-0F73D1E2CC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3813" y="1018575"/>
            <a:ext cx="20994687" cy="347047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600" baseline="0">
                <a:solidFill>
                  <a:srgbClr val="271E3D"/>
                </a:solidFill>
                <a:latin typeface="+mj-lt"/>
              </a:defRPr>
            </a:lvl1pPr>
            <a:lvl2pPr marL="975416" indent="0" algn="ctr">
              <a:buFontTx/>
              <a:buNone/>
              <a:defRPr sz="22763">
                <a:solidFill>
                  <a:schemeClr val="bg1"/>
                </a:solidFill>
                <a:latin typeface="+mj-lt"/>
              </a:defRPr>
            </a:lvl2pPr>
            <a:lvl3pPr marL="1950836" indent="0" algn="ctr">
              <a:buFontTx/>
              <a:buNone/>
              <a:defRPr sz="20488">
                <a:solidFill>
                  <a:schemeClr val="bg1"/>
                </a:solidFill>
                <a:latin typeface="+mj-lt"/>
              </a:defRPr>
            </a:lvl3pPr>
            <a:lvl4pPr marL="2926253" indent="0" algn="ctr">
              <a:buFontTx/>
              <a:buNone/>
              <a:defRPr sz="18781">
                <a:solidFill>
                  <a:schemeClr val="bg1"/>
                </a:solidFill>
                <a:latin typeface="+mj-lt"/>
              </a:defRPr>
            </a:lvl4pPr>
            <a:lvl5pPr marL="3901670" indent="0" algn="ctr">
              <a:buFontTx/>
              <a:buNone/>
              <a:defRPr sz="1878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Title of your work here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B5572D7-4DCA-D0FB-FF7E-4D9DA8A6C9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3811" y="4527514"/>
            <a:ext cx="20994687" cy="553998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buFontTx/>
              <a:buNone/>
              <a:defRPr sz="4000" baseline="0">
                <a:solidFill>
                  <a:srgbClr val="271E3D"/>
                </a:solidFill>
                <a:latin typeface="Arial" panose="020B0604020202020204" pitchFamily="34" charset="0"/>
              </a:defRPr>
            </a:lvl1pPr>
            <a:lvl2pPr marL="688937" indent="0" algn="ctr">
              <a:buFontTx/>
              <a:buNone/>
              <a:defRPr sz="16078">
                <a:solidFill>
                  <a:schemeClr val="bg1"/>
                </a:solidFill>
                <a:latin typeface="+mj-lt"/>
              </a:defRPr>
            </a:lvl2pPr>
            <a:lvl3pPr marL="1377876" indent="0" algn="ctr">
              <a:buFontTx/>
              <a:buNone/>
              <a:defRPr sz="14471">
                <a:solidFill>
                  <a:schemeClr val="bg1"/>
                </a:solidFill>
                <a:latin typeface="+mj-lt"/>
              </a:defRPr>
            </a:lvl3pPr>
            <a:lvl4pPr marL="2066811" indent="0" algn="ctr">
              <a:buFontTx/>
              <a:buNone/>
              <a:defRPr sz="13264">
                <a:solidFill>
                  <a:schemeClr val="bg1"/>
                </a:solidFill>
                <a:latin typeface="+mj-lt"/>
              </a:defRPr>
            </a:lvl4pPr>
            <a:lvl5pPr marL="2755750" indent="0" algn="ctr">
              <a:buFontTx/>
              <a:buNone/>
              <a:defRPr sz="1326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A detailed subtitle here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E0010E-6C5D-9595-80EF-C1759515B368}"/>
              </a:ext>
            </a:extLst>
          </p:cNvPr>
          <p:cNvCxnSpPr>
            <a:cxnSpLocks/>
          </p:cNvCxnSpPr>
          <p:nvPr userDrawn="1"/>
        </p:nvCxnSpPr>
        <p:spPr>
          <a:xfrm>
            <a:off x="1293811" y="28347768"/>
            <a:ext cx="40576502" cy="0"/>
          </a:xfrm>
          <a:prstGeom prst="line">
            <a:avLst/>
          </a:prstGeom>
          <a:ln w="31750">
            <a:solidFill>
              <a:srgbClr val="271E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7A48BA29-AD62-ED3E-30E2-A0FD6AD654CD}"/>
              </a:ext>
            </a:extLst>
          </p:cNvPr>
          <p:cNvGrpSpPr/>
          <p:nvPr userDrawn="1"/>
        </p:nvGrpSpPr>
        <p:grpSpPr>
          <a:xfrm>
            <a:off x="37049328" y="28784770"/>
            <a:ext cx="4846812" cy="1923830"/>
            <a:chOff x="24083371" y="41132715"/>
            <a:chExt cx="4846812" cy="19238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7DD44B-E066-AEA5-E539-F8FA1E5E9728}"/>
                </a:ext>
              </a:extLst>
            </p:cNvPr>
            <p:cNvSpPr/>
            <p:nvPr userDrawn="1"/>
          </p:nvSpPr>
          <p:spPr>
            <a:xfrm>
              <a:off x="24083371" y="41132715"/>
              <a:ext cx="4846812" cy="1923830"/>
            </a:xfrm>
            <a:prstGeom prst="rect">
              <a:avLst/>
            </a:prstGeom>
            <a:solidFill>
              <a:srgbClr val="271E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13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B7B528-E4DA-25E8-048B-0BBA4DE0F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537327" y="41739405"/>
              <a:ext cx="3936074" cy="414323"/>
            </a:xfrm>
            <a:prstGeom prst="rect">
              <a:avLst/>
            </a:prstGeom>
          </p:spPr>
        </p:pic>
      </p:grp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765617A-9FF7-D5B1-341B-E1B740A693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813" y="28808619"/>
            <a:ext cx="32427475" cy="1580003"/>
          </a:xfrm>
        </p:spPr>
        <p:txBody>
          <a:bodyPr lIns="0" tIns="0" rIns="0" bIns="0">
            <a:noAutofit/>
          </a:bodyPr>
          <a:lstStyle>
            <a:lvl1pPr marL="0" marR="0" indent="0" algn="l" defTabSz="1377877" rtl="0" eaLnBrk="1" fontAlgn="auto" latinLnBrk="0" hangingPunct="1">
              <a:lnSpc>
                <a:spcPct val="90000"/>
              </a:lnSpc>
              <a:spcBef>
                <a:spcPts val="1507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92" b="0" baseline="0">
                <a:solidFill>
                  <a:srgbClr val="271E3D"/>
                </a:solidFill>
                <a:latin typeface="+mn-lt"/>
              </a:defRPr>
            </a:lvl1pPr>
            <a:lvl2pPr marL="688938" indent="0" algn="l">
              <a:buFontTx/>
              <a:buNone/>
              <a:defRPr sz="2993">
                <a:solidFill>
                  <a:srgbClr val="271E3D"/>
                </a:solidFill>
                <a:latin typeface="+mn-lt"/>
              </a:defRPr>
            </a:lvl2pPr>
            <a:lvl3pPr marL="1377877" indent="0" algn="l">
              <a:buFontTx/>
              <a:buNone/>
              <a:defRPr sz="1996">
                <a:solidFill>
                  <a:srgbClr val="271E3D"/>
                </a:solidFill>
                <a:latin typeface="+mn-lt"/>
              </a:defRPr>
            </a:lvl3pPr>
            <a:lvl4pPr marL="2066813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4pPr>
            <a:lvl5pPr marL="2755752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add authors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5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15" userDrawn="1">
          <p15:clr>
            <a:srgbClr val="FBAE40"/>
          </p15:clr>
        </p15:guide>
        <p15:guide id="3" pos="26398" userDrawn="1">
          <p15:clr>
            <a:srgbClr val="FBAE40"/>
          </p15:clr>
        </p15:guide>
        <p15:guide id="4" orient="horz" pos="147" userDrawn="1">
          <p15:clr>
            <a:srgbClr val="C35EA4"/>
          </p15:clr>
        </p15:guide>
        <p15:guide id="5" orient="horz" pos="18517" userDrawn="1">
          <p15:clr>
            <a:srgbClr val="FBAE40"/>
          </p15:clr>
        </p15:guide>
        <p15:guide id="7" orient="horz" pos="827" userDrawn="1">
          <p15:clr>
            <a:srgbClr val="FBAE40"/>
          </p15:clr>
        </p15:guide>
        <p15:guide id="10" pos="135" userDrawn="1">
          <p15:clr>
            <a:srgbClr val="C35EA4"/>
          </p15:clr>
        </p15:guide>
        <p15:guide id="11" pos="27078" userDrawn="1">
          <p15:clr>
            <a:srgbClr val="C35EA4"/>
          </p15:clr>
        </p15:guide>
        <p15:guide id="12" orient="horz" pos="3118" userDrawn="1">
          <p15:clr>
            <a:srgbClr val="FBAE40"/>
          </p15:clr>
        </p15:guide>
        <p15:guide id="13" orient="horz" pos="19197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ademic Poster Landscap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F713BE-F70D-797F-24FC-7D39FA6801B0}"/>
              </a:ext>
            </a:extLst>
          </p:cNvPr>
          <p:cNvSpPr/>
          <p:nvPr userDrawn="1"/>
        </p:nvSpPr>
        <p:spPr>
          <a:xfrm>
            <a:off x="0" y="0"/>
            <a:ext cx="43200638" cy="6172198"/>
          </a:xfrm>
          <a:prstGeom prst="rect">
            <a:avLst/>
          </a:prstGeom>
          <a:solidFill>
            <a:srgbClr val="271E3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213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83F72DE-17BF-9A43-8070-7D0E804C2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3813" y="6803756"/>
            <a:ext cx="40613012" cy="20779254"/>
          </a:xfrm>
        </p:spPr>
        <p:txBody>
          <a:bodyPr lIns="0" tIns="0" rIns="0" bIns="0">
            <a:noAutofit/>
          </a:bodyPr>
          <a:lstStyle>
            <a:lvl1pPr marL="0" marR="0" indent="0" algn="l" defTabSz="1377877" rtl="0" eaLnBrk="1" fontAlgn="auto" latinLnBrk="0" hangingPunct="1">
              <a:lnSpc>
                <a:spcPct val="90000"/>
              </a:lnSpc>
              <a:spcBef>
                <a:spcPts val="1507"/>
              </a:spcBef>
              <a:spcAft>
                <a:spcPts val="0"/>
              </a:spcAft>
              <a:buClrTx/>
              <a:buSzTx/>
              <a:buFontTx/>
              <a:buNone/>
              <a:tabLst/>
              <a:defRPr sz="3300" b="0" baseline="0">
                <a:solidFill>
                  <a:srgbClr val="000000"/>
                </a:solidFill>
                <a:latin typeface="+mn-lt"/>
              </a:defRPr>
            </a:lvl1pPr>
            <a:lvl2pPr marL="688938" indent="0" algn="l">
              <a:buFontTx/>
              <a:buNone/>
              <a:defRPr sz="2993">
                <a:solidFill>
                  <a:srgbClr val="271E3D"/>
                </a:solidFill>
                <a:latin typeface="+mn-lt"/>
              </a:defRPr>
            </a:lvl2pPr>
            <a:lvl3pPr marL="1377877" indent="0" algn="l">
              <a:buFontTx/>
              <a:buNone/>
              <a:defRPr sz="1996">
                <a:solidFill>
                  <a:srgbClr val="271E3D"/>
                </a:solidFill>
                <a:latin typeface="+mn-lt"/>
              </a:defRPr>
            </a:lvl3pPr>
            <a:lvl4pPr marL="2066813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4pPr>
            <a:lvl5pPr marL="2755752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edit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238D90-7700-5182-68CF-D75C4403A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4783409" y="1332133"/>
            <a:ext cx="7123416" cy="3620842"/>
          </a:xfrm>
          <a:prstGeom prst="rect">
            <a:avLst/>
          </a:prstGeom>
        </p:spPr>
      </p:pic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B5B65907-3B54-E40E-CC1D-184CBA1CAC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813" y="28808619"/>
            <a:ext cx="32427475" cy="1580003"/>
          </a:xfrm>
        </p:spPr>
        <p:txBody>
          <a:bodyPr lIns="0" tIns="0" rIns="0" bIns="0">
            <a:noAutofit/>
          </a:bodyPr>
          <a:lstStyle>
            <a:lvl1pPr marL="0" marR="0" indent="0" algn="l" defTabSz="1377877" rtl="0" eaLnBrk="1" fontAlgn="auto" latinLnBrk="0" hangingPunct="1">
              <a:lnSpc>
                <a:spcPct val="90000"/>
              </a:lnSpc>
              <a:spcBef>
                <a:spcPts val="1507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92" b="0" baseline="0">
                <a:solidFill>
                  <a:srgbClr val="271E3D"/>
                </a:solidFill>
                <a:latin typeface="+mn-lt"/>
              </a:defRPr>
            </a:lvl1pPr>
            <a:lvl2pPr marL="688938" indent="0" algn="l">
              <a:buFontTx/>
              <a:buNone/>
              <a:defRPr sz="2993">
                <a:solidFill>
                  <a:srgbClr val="271E3D"/>
                </a:solidFill>
                <a:latin typeface="+mn-lt"/>
              </a:defRPr>
            </a:lvl2pPr>
            <a:lvl3pPr marL="1377877" indent="0" algn="l">
              <a:buFontTx/>
              <a:buNone/>
              <a:defRPr sz="1996">
                <a:solidFill>
                  <a:srgbClr val="271E3D"/>
                </a:solidFill>
                <a:latin typeface="+mn-lt"/>
              </a:defRPr>
            </a:lvl3pPr>
            <a:lvl4pPr marL="2066813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4pPr>
            <a:lvl5pPr marL="2755752" indent="0" algn="l">
              <a:buFontTx/>
              <a:buNone/>
              <a:defRPr sz="4390">
                <a:solidFill>
                  <a:srgbClr val="271E3D"/>
                </a:solidFill>
                <a:latin typeface="+mn-lt"/>
              </a:defRPr>
            </a:lvl5pPr>
          </a:lstStyle>
          <a:p>
            <a:pPr lvl="0"/>
            <a:r>
              <a:rPr lang="en-GB" dirty="0"/>
              <a:t>Click to add authors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F566A0-7F52-6953-A104-0F73D1E2CC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3813" y="1018575"/>
            <a:ext cx="20994687" cy="347047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9600" baseline="0">
                <a:solidFill>
                  <a:schemeClr val="bg1"/>
                </a:solidFill>
                <a:latin typeface="+mj-lt"/>
              </a:defRPr>
            </a:lvl1pPr>
            <a:lvl2pPr marL="975416" indent="0" algn="ctr">
              <a:buFontTx/>
              <a:buNone/>
              <a:defRPr sz="22763">
                <a:solidFill>
                  <a:schemeClr val="bg1"/>
                </a:solidFill>
                <a:latin typeface="+mj-lt"/>
              </a:defRPr>
            </a:lvl2pPr>
            <a:lvl3pPr marL="1950836" indent="0" algn="ctr">
              <a:buFontTx/>
              <a:buNone/>
              <a:defRPr sz="20488">
                <a:solidFill>
                  <a:schemeClr val="bg1"/>
                </a:solidFill>
                <a:latin typeface="+mj-lt"/>
              </a:defRPr>
            </a:lvl3pPr>
            <a:lvl4pPr marL="2926253" indent="0" algn="ctr">
              <a:buFontTx/>
              <a:buNone/>
              <a:defRPr sz="18781">
                <a:solidFill>
                  <a:schemeClr val="bg1"/>
                </a:solidFill>
                <a:latin typeface="+mj-lt"/>
              </a:defRPr>
            </a:lvl4pPr>
            <a:lvl5pPr marL="3901670" indent="0" algn="ctr">
              <a:buFontTx/>
              <a:buNone/>
              <a:defRPr sz="1878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Title of your work here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B5572D7-4DCA-D0FB-FF7E-4D9DA8A6C9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93811" y="4527514"/>
            <a:ext cx="20994687" cy="553998"/>
          </a:xfrm>
        </p:spPr>
        <p:txBody>
          <a:bodyPr wrap="square" lIns="0" tIns="0" rIns="0" bIns="0" anchor="b" anchorCtr="0">
            <a:spAutoFit/>
          </a:bodyPr>
          <a:lstStyle>
            <a:lvl1pPr marL="0" indent="0" algn="l">
              <a:buFontTx/>
              <a:buNone/>
              <a:defRPr sz="4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688937" indent="0" algn="ctr">
              <a:buFontTx/>
              <a:buNone/>
              <a:defRPr sz="16078">
                <a:solidFill>
                  <a:schemeClr val="bg1"/>
                </a:solidFill>
                <a:latin typeface="+mj-lt"/>
              </a:defRPr>
            </a:lvl2pPr>
            <a:lvl3pPr marL="1377876" indent="0" algn="ctr">
              <a:buFontTx/>
              <a:buNone/>
              <a:defRPr sz="14471">
                <a:solidFill>
                  <a:schemeClr val="bg1"/>
                </a:solidFill>
                <a:latin typeface="+mj-lt"/>
              </a:defRPr>
            </a:lvl3pPr>
            <a:lvl4pPr marL="2066811" indent="0" algn="ctr">
              <a:buFontTx/>
              <a:buNone/>
              <a:defRPr sz="13264">
                <a:solidFill>
                  <a:schemeClr val="bg1"/>
                </a:solidFill>
                <a:latin typeface="+mj-lt"/>
              </a:defRPr>
            </a:lvl4pPr>
            <a:lvl5pPr marL="2755750" indent="0" algn="ctr">
              <a:buFontTx/>
              <a:buNone/>
              <a:defRPr sz="1326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A detailed subtitle here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EB13BA-C731-7EEB-E6B6-A7A7BFADD063}"/>
              </a:ext>
            </a:extLst>
          </p:cNvPr>
          <p:cNvCxnSpPr>
            <a:cxnSpLocks/>
          </p:cNvCxnSpPr>
          <p:nvPr userDrawn="1"/>
        </p:nvCxnSpPr>
        <p:spPr>
          <a:xfrm>
            <a:off x="1293811" y="28347768"/>
            <a:ext cx="40576502" cy="0"/>
          </a:xfrm>
          <a:prstGeom prst="line">
            <a:avLst/>
          </a:prstGeom>
          <a:ln w="31750">
            <a:solidFill>
              <a:srgbClr val="271E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59BE464-DC77-092A-7D89-E87FE45C96FB}"/>
              </a:ext>
            </a:extLst>
          </p:cNvPr>
          <p:cNvGrpSpPr/>
          <p:nvPr userDrawn="1"/>
        </p:nvGrpSpPr>
        <p:grpSpPr>
          <a:xfrm>
            <a:off x="37049328" y="28784770"/>
            <a:ext cx="4846812" cy="1923830"/>
            <a:chOff x="24083371" y="41132715"/>
            <a:chExt cx="4846812" cy="19238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60B252-09B7-D575-36F8-AF489CACF1BF}"/>
                </a:ext>
              </a:extLst>
            </p:cNvPr>
            <p:cNvSpPr/>
            <p:nvPr userDrawn="1"/>
          </p:nvSpPr>
          <p:spPr>
            <a:xfrm>
              <a:off x="24083371" y="41132715"/>
              <a:ext cx="4846812" cy="1923830"/>
            </a:xfrm>
            <a:prstGeom prst="rect">
              <a:avLst/>
            </a:prstGeom>
            <a:solidFill>
              <a:srgbClr val="271E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213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5770F78-4556-9865-F93B-AFC2459101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537327" y="41739405"/>
              <a:ext cx="3936074" cy="4143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0662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15" userDrawn="1">
          <p15:clr>
            <a:srgbClr val="FBAE40"/>
          </p15:clr>
        </p15:guide>
        <p15:guide id="3" pos="26398" userDrawn="1">
          <p15:clr>
            <a:srgbClr val="FBAE40"/>
          </p15:clr>
        </p15:guide>
        <p15:guide id="4" orient="horz" pos="147" userDrawn="1">
          <p15:clr>
            <a:srgbClr val="C35EA4"/>
          </p15:clr>
        </p15:guide>
        <p15:guide id="5" orient="horz" pos="18517" userDrawn="1">
          <p15:clr>
            <a:srgbClr val="FBAE40"/>
          </p15:clr>
        </p15:guide>
        <p15:guide id="7" orient="horz" pos="827" userDrawn="1">
          <p15:clr>
            <a:srgbClr val="FBAE40"/>
          </p15:clr>
        </p15:guide>
        <p15:guide id="10" pos="135" userDrawn="1">
          <p15:clr>
            <a:srgbClr val="C35EA4"/>
          </p15:clr>
        </p15:guide>
        <p15:guide id="11" pos="27078" userDrawn="1">
          <p15:clr>
            <a:srgbClr val="C35EA4"/>
          </p15:clr>
        </p15:guide>
        <p15:guide id="12" orient="horz" pos="3118" userDrawn="1">
          <p15:clr>
            <a:srgbClr val="FBAE40"/>
          </p15:clr>
        </p15:guide>
        <p15:guide id="13" orient="horz" pos="19197" userDrawn="1">
          <p15:clr>
            <a:srgbClr val="C35E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9" y="1634964"/>
            <a:ext cx="37260551" cy="5935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9" y="8174751"/>
            <a:ext cx="37260551" cy="19484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5" y="28462336"/>
            <a:ext cx="9720143" cy="1634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0" b="0" i="0">
                <a:solidFill>
                  <a:srgbClr val="8D8C93"/>
                </a:solidFill>
                <a:latin typeface="Palatino Linotype" panose="02040502050505030304" pitchFamily="18" charset="0"/>
              </a:defRPr>
            </a:lvl1pPr>
          </a:lstStyle>
          <a:p>
            <a:fld id="{E54BFB26-65E8-0746-AE1F-BB6A120F4B8F}" type="datetimeFigureOut">
              <a:rPr lang="en-US" smtClean="0"/>
              <a:pPr/>
              <a:t>4/19/26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3" y="28462336"/>
            <a:ext cx="14580216" cy="1634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0" b="0" i="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2" y="28462336"/>
            <a:ext cx="9720143" cy="1634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0" b="0" i="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F6579A09-310B-C44E-BCE0-1A21A05AF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2" r:id="rId2"/>
    <p:sldLayoutId id="2147483711" r:id="rId3"/>
  </p:sldLayoutIdLst>
  <p:txStyles>
    <p:titleStyle>
      <a:lvl1pPr algn="l" defTabSz="1377877" rtl="0" eaLnBrk="1" latinLnBrk="0" hangingPunct="1">
        <a:lnSpc>
          <a:spcPct val="90000"/>
        </a:lnSpc>
        <a:spcBef>
          <a:spcPct val="0"/>
        </a:spcBef>
        <a:buNone/>
        <a:defRPr sz="6631" b="0" i="0" kern="1200">
          <a:solidFill>
            <a:schemeClr val="tx1"/>
          </a:solidFill>
          <a:latin typeface="Palatino Linotype" panose="02040502050505030304" pitchFamily="18" charset="0"/>
          <a:ea typeface="Palatino" pitchFamily="2" charset="77"/>
          <a:cs typeface="+mj-cs"/>
        </a:defRPr>
      </a:lvl1pPr>
    </p:titleStyle>
    <p:bodyStyle>
      <a:lvl1pPr marL="344471" indent="-344471" algn="l" defTabSz="1377877" rtl="0" eaLnBrk="1" latinLnBrk="0" hangingPunct="1">
        <a:lnSpc>
          <a:spcPct val="90000"/>
        </a:lnSpc>
        <a:spcBef>
          <a:spcPts val="1507"/>
        </a:spcBef>
        <a:buFont typeface="Arial" panose="020B0604020202020204" pitchFamily="34" charset="0"/>
        <a:buChar char="•"/>
        <a:defRPr sz="4218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033407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3616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722346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3013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11286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2711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3100222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2711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3789161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6pPr>
      <a:lvl7pPr marL="4478100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7pPr>
      <a:lvl8pPr marL="5167039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8pPr>
      <a:lvl9pPr marL="5855977" indent="-344471" algn="l" defTabSz="1377877" rtl="0" eaLnBrk="1" latinLnBrk="0" hangingPunct="1">
        <a:lnSpc>
          <a:spcPct val="90000"/>
        </a:lnSpc>
        <a:spcBef>
          <a:spcPts val="753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88938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2pPr>
      <a:lvl3pPr marL="1377877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3pPr>
      <a:lvl4pPr marL="2066816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4pPr>
      <a:lvl5pPr marL="2755755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5pPr>
      <a:lvl6pPr marL="3444693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6pPr>
      <a:lvl7pPr marL="4133631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7pPr>
      <a:lvl8pPr marL="4822570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8pPr>
      <a:lvl9pPr marL="5511506" algn="l" defTabSz="1377877" rtl="0" eaLnBrk="1" latinLnBrk="0" hangingPunct="1">
        <a:defRPr sz="2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9A9DB-8523-4CF0-0332-F23CDA3A1C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Mark Phillips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AA35D-EF15-BCCE-6698-01E22F99A9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Multimodal Fake News Detection on Social Media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1D9E3-3C16-330A-2AFE-3EB16B9424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3811" y="4527514"/>
            <a:ext cx="20994687" cy="553998"/>
          </a:xfrm>
        </p:spPr>
        <p:txBody>
          <a:bodyPr/>
          <a:lstStyle/>
          <a:p>
            <a:r>
              <a:rPr lang="en-GB" dirty="0"/>
              <a:t>An evidence-informed MSc project grounded in systematic literature review findings.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EBB2C-A705-9879-F97A-12C488AF6B24}"/>
              </a:ext>
            </a:extLst>
          </p:cNvPr>
          <p:cNvSpPr/>
          <p:nvPr/>
        </p:nvSpPr>
        <p:spPr>
          <a:xfrm>
            <a:off x="1323974" y="6468136"/>
            <a:ext cx="12929836" cy="139278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71E3D"/>
                </a:solidFill>
              </a:rPr>
              <a:t>	 	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CBA97EE4-FDE8-D6C4-742B-96D82C432E5A}"/>
              </a:ext>
            </a:extLst>
          </p:cNvPr>
          <p:cNvSpPr txBox="1">
            <a:spLocks/>
          </p:cNvSpPr>
          <p:nvPr/>
        </p:nvSpPr>
        <p:spPr>
          <a:xfrm>
            <a:off x="1863973" y="6849568"/>
            <a:ext cx="12204201" cy="970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4400" b="0" i="0" kern="120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97541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4238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2pPr>
            <a:lvl3pPr marL="195083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282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3pPr>
            <a:lvl4pPr marL="2926253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4pPr>
            <a:lvl5pPr marL="3901670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271E3D"/>
                </a:solidFill>
              </a:rPr>
              <a:t>Background &amp; Motivation</a:t>
            </a:r>
          </a:p>
          <a:p>
            <a:endParaRPr lang="en-GB" dirty="0">
              <a:solidFill>
                <a:srgbClr val="271E3D"/>
              </a:solidFill>
            </a:endParaRP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5378C4E5-8ADD-FC6B-6C14-9EE971CC83D3}"/>
              </a:ext>
            </a:extLst>
          </p:cNvPr>
          <p:cNvSpPr txBox="1">
            <a:spLocks/>
          </p:cNvSpPr>
          <p:nvPr/>
        </p:nvSpPr>
        <p:spPr>
          <a:xfrm>
            <a:off x="1863725" y="7820465"/>
            <a:ext cx="11726051" cy="39815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1950836" rtl="0" eaLnBrk="1" latinLnBrk="0" hangingPunct="1">
              <a:lnSpc>
                <a:spcPct val="90000"/>
              </a:lnSpc>
              <a:spcBef>
                <a:spcPts val="2134"/>
              </a:spcBef>
              <a:buFont typeface="Arial" panose="020B0604020202020204" pitchFamily="34" charset="0"/>
              <a:buNone/>
              <a:defRPr sz="33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000" b="1" dirty="0">
                <a:solidFill>
                  <a:schemeClr val="tx1"/>
                </a:solidFill>
              </a:rPr>
              <a:t>Why multimodal?</a:t>
            </a:r>
          </a:p>
          <a:p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Misinformation on social platforms often appears as </a:t>
            </a:r>
            <a:r>
              <a:rPr lang="en-GB" b="1" dirty="0">
                <a:solidFill>
                  <a:schemeClr val="tx1"/>
                </a:solidFill>
              </a:rPr>
              <a:t>posts with both text and images</a:t>
            </a:r>
            <a:r>
              <a:rPr lang="en-GB" dirty="0">
                <a:solidFill>
                  <a:schemeClr val="tx1"/>
                </a:solidFill>
              </a:rPr>
              <a:t>. Text-only detectors miss visual cues; image-only models ignore claims and context. This work asks whether </a:t>
            </a:r>
            <a:r>
              <a:rPr lang="en-GB" b="1" dirty="0">
                <a:solidFill>
                  <a:schemeClr val="tx1"/>
                </a:solidFill>
              </a:rPr>
              <a:t>joint use of text and image</a:t>
            </a:r>
            <a:r>
              <a:rPr lang="en-GB" dirty="0">
                <a:solidFill>
                  <a:schemeClr val="tx1"/>
                </a:solidFill>
              </a:rPr>
              <a:t> can support more robust detection than single-modality baselines, in line with gaps noted in the literature (controlled fusion comparisons, cost reporting, practical evaluation).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6F6274E-4F9D-7246-5C69-A532046F9DBF}"/>
              </a:ext>
            </a:extLst>
          </p:cNvPr>
          <p:cNvSpPr txBox="1">
            <a:spLocks/>
          </p:cNvSpPr>
          <p:nvPr/>
        </p:nvSpPr>
        <p:spPr>
          <a:xfrm>
            <a:off x="1545792" y="21154425"/>
            <a:ext cx="13283950" cy="970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4400" b="0" i="0" kern="1200" smtClean="0">
                <a:solidFill>
                  <a:srgbClr val="271E3D"/>
                </a:solidFill>
                <a:effectLst/>
                <a:latin typeface="+mj-lt"/>
                <a:ea typeface="+mn-ea"/>
                <a:cs typeface="+mn-cs"/>
              </a:defRPr>
            </a:lvl1pPr>
            <a:lvl2pPr marL="97541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4238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2pPr>
            <a:lvl3pPr marL="195083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282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3pPr>
            <a:lvl4pPr marL="2926253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4pPr>
            <a:lvl5pPr marL="3901670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Project Aim &amp; Research Questions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E373315A-D658-7298-EE61-0BD7BB1BE5D2}"/>
              </a:ext>
            </a:extLst>
          </p:cNvPr>
          <p:cNvSpPr txBox="1">
            <a:spLocks/>
          </p:cNvSpPr>
          <p:nvPr/>
        </p:nvSpPr>
        <p:spPr>
          <a:xfrm>
            <a:off x="1512991" y="22501717"/>
            <a:ext cx="13284199" cy="55866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300" b="0" i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RQ1:</a:t>
            </a:r>
            <a:r>
              <a:rPr lang="en-GB" dirty="0"/>
              <a:t> Transfer learning vs traditional ML — effectiveness and </a:t>
            </a:r>
            <a:r>
              <a:rPr lang="en-GB" b="1" dirty="0"/>
              <a:t>computational cost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RQ2:</a:t>
            </a:r>
            <a:r>
              <a:rPr lang="en-GB" dirty="0"/>
              <a:t> </a:t>
            </a:r>
            <a:r>
              <a:rPr lang="en-GB" b="1" dirty="0"/>
              <a:t>Fusion mechanisms</a:t>
            </a:r>
            <a:r>
              <a:rPr lang="en-GB" dirty="0"/>
              <a:t> (e.g. early vs late vs attention-based) under comparable settings.</a:t>
            </a:r>
          </a:p>
          <a:p>
            <a:endParaRPr lang="en-GB" dirty="0"/>
          </a:p>
          <a:p>
            <a:r>
              <a:rPr lang="en-GB" b="1" dirty="0"/>
              <a:t>RQ3:</a:t>
            </a:r>
            <a:r>
              <a:rPr lang="en-GB" dirty="0"/>
              <a:t> </a:t>
            </a:r>
            <a:r>
              <a:rPr lang="en-GB" b="1" dirty="0"/>
              <a:t>Multimodal vs unimodal</a:t>
            </a:r>
            <a:r>
              <a:rPr lang="en-GB" dirty="0"/>
              <a:t> gains across content types.</a:t>
            </a:r>
          </a:p>
          <a:p>
            <a:r>
              <a:rPr lang="en-GB" b="1" dirty="0"/>
              <a:t>Scope:</a:t>
            </a:r>
            <a:r>
              <a:rPr lang="en-GB" dirty="0"/>
              <a:t> Text + image only; video/audio out of scope.</a:t>
            </a:r>
          </a:p>
          <a:p>
            <a:r>
              <a:rPr lang="en-GB" dirty="0"/>
              <a:t>text text text text text text text text text text text text text text.</a:t>
            </a:r>
          </a:p>
          <a:p>
            <a:endParaRPr lang="en-GB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8BB4EDD0-48CA-2956-E72C-EF875E620A0A}"/>
              </a:ext>
            </a:extLst>
          </p:cNvPr>
          <p:cNvSpPr txBox="1">
            <a:spLocks/>
          </p:cNvSpPr>
          <p:nvPr/>
        </p:nvSpPr>
        <p:spPr>
          <a:xfrm>
            <a:off x="15095005" y="6839264"/>
            <a:ext cx="12780714" cy="970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4400" b="0" i="0" kern="1200" smtClean="0">
                <a:solidFill>
                  <a:srgbClr val="271E3D"/>
                </a:solidFill>
                <a:effectLst/>
                <a:latin typeface="+mj-lt"/>
                <a:ea typeface="+mn-ea"/>
                <a:cs typeface="+mn-cs"/>
              </a:defRPr>
            </a:lvl1pPr>
            <a:lvl2pPr marL="97541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4238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2pPr>
            <a:lvl3pPr marL="195083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282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3pPr>
            <a:lvl4pPr marL="2926253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4pPr>
            <a:lvl5pPr marL="3901670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Dataset Overview &amp; Preprocessing Pipeline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DC2CA7B2-410D-D4E3-91C2-2D009674759F}"/>
              </a:ext>
            </a:extLst>
          </p:cNvPr>
          <p:cNvSpPr txBox="1">
            <a:spLocks/>
          </p:cNvSpPr>
          <p:nvPr/>
        </p:nvSpPr>
        <p:spPr>
          <a:xfrm>
            <a:off x="15094757" y="7767986"/>
            <a:ext cx="12780962" cy="112820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3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/>
              <a:t>Sources</a:t>
            </a:r>
            <a:endParaRPr lang="en-GB" sz="3600" dirty="0"/>
          </a:p>
          <a:p>
            <a:r>
              <a:rPr lang="en-GB" b="1" dirty="0" err="1"/>
              <a:t>FakeNewsNet</a:t>
            </a:r>
            <a:r>
              <a:rPr lang="en-GB" dirty="0"/>
              <a:t> (e.g. PolitiFact / </a:t>
            </a:r>
            <a:r>
              <a:rPr lang="en-GB" dirty="0" err="1"/>
              <a:t>GossipCop</a:t>
            </a:r>
            <a:r>
              <a:rPr lang="en-GB" dirty="0"/>
              <a:t>): news articles with crawled text and images.</a:t>
            </a:r>
          </a:p>
          <a:p>
            <a:r>
              <a:rPr lang="en-GB" b="1" dirty="0" err="1"/>
              <a:t>Fakeddit</a:t>
            </a:r>
            <a:r>
              <a:rPr lang="en-GB" dirty="0"/>
              <a:t> (Reddit): multimodal posts with metadata and image URLs.</a:t>
            </a:r>
          </a:p>
          <a:p>
            <a:r>
              <a:rPr lang="en-GB" sz="4000" b="1" dirty="0"/>
              <a:t>High-level processing pipeline</a:t>
            </a:r>
            <a:endParaRPr lang="en-GB" sz="4000" dirty="0"/>
          </a:p>
          <a:p>
            <a:r>
              <a:rPr lang="en-GB" b="1" dirty="0"/>
              <a:t>Acquire</a:t>
            </a:r>
            <a:r>
              <a:rPr lang="en-GB" dirty="0"/>
              <a:t> — crawl / download sources (01–02).</a:t>
            </a:r>
          </a:p>
          <a:p>
            <a:r>
              <a:rPr lang="en-GB" b="1" dirty="0"/>
              <a:t>Unify</a:t>
            </a:r>
            <a:r>
              <a:rPr lang="en-GB" dirty="0"/>
              <a:t> — single </a:t>
            </a:r>
            <a:r>
              <a:rPr lang="en-GB" b="1" dirty="0"/>
              <a:t>tabular schema</a:t>
            </a:r>
            <a:r>
              <a:rPr lang="en-GB" dirty="0"/>
              <a:t> (04): </a:t>
            </a:r>
            <a:r>
              <a:rPr lang="en-GB" dirty="0" err="1"/>
              <a:t>fakenews.tsv</a:t>
            </a:r>
            <a:r>
              <a:rPr lang="en-GB" dirty="0"/>
              <a:t>.</a:t>
            </a:r>
          </a:p>
          <a:p>
            <a:r>
              <a:rPr lang="en-GB" b="1" dirty="0"/>
              <a:t>Cohort</a:t>
            </a:r>
            <a:r>
              <a:rPr lang="en-GB" dirty="0"/>
              <a:t> — stratified </a:t>
            </a:r>
            <a:r>
              <a:rPr lang="en-GB" b="1" dirty="0"/>
              <a:t>multimodal plan</a:t>
            </a:r>
            <a:r>
              <a:rPr lang="en-GB" dirty="0"/>
              <a:t> (05); </a:t>
            </a:r>
            <a:r>
              <a:rPr lang="en-GB" b="1" dirty="0"/>
              <a:t>download images</a:t>
            </a:r>
            <a:r>
              <a:rPr lang="en-GB" dirty="0"/>
              <a:t> (06); optional </a:t>
            </a:r>
            <a:r>
              <a:rPr lang="en-GB" b="1" dirty="0"/>
              <a:t>log dedupe</a:t>
            </a:r>
            <a:r>
              <a:rPr lang="en-GB" dirty="0"/>
              <a:t> (07).</a:t>
            </a:r>
          </a:p>
          <a:p>
            <a:r>
              <a:rPr lang="en-GB" b="1" dirty="0"/>
              <a:t>Quality gate</a:t>
            </a:r>
            <a:r>
              <a:rPr lang="en-GB" dirty="0"/>
              <a:t> — </a:t>
            </a:r>
            <a:r>
              <a:rPr lang="en-GB" b="1" dirty="0"/>
              <a:t>heuristic image validity</a:t>
            </a:r>
            <a:r>
              <a:rPr lang="en-GB" dirty="0"/>
              <a:t> score (08); merge into table (09–10).</a:t>
            </a:r>
          </a:p>
          <a:p>
            <a:r>
              <a:rPr lang="en-GB" b="1" dirty="0"/>
              <a:t>Gated export</a:t>
            </a:r>
            <a:r>
              <a:rPr lang="en-GB" dirty="0"/>
              <a:t> — training-facing subset </a:t>
            </a:r>
            <a:r>
              <a:rPr lang="en-GB" b="1" dirty="0" err="1"/>
              <a:t>fake_news_final.tsv</a:t>
            </a:r>
            <a:r>
              <a:rPr lang="en-GB" dirty="0"/>
              <a:t> (11, score threshold e.g. ≥75).</a:t>
            </a:r>
          </a:p>
          <a:p>
            <a:endParaRPr lang="en-GB" b="1" dirty="0"/>
          </a:p>
          <a:p>
            <a:r>
              <a:rPr lang="en-GB" b="1" dirty="0"/>
              <a:t>Current status </a:t>
            </a:r>
          </a:p>
          <a:p>
            <a:r>
              <a:rPr lang="en-GB" dirty="0"/>
              <a:t>Gated multimodal export: </a:t>
            </a:r>
            <a:r>
              <a:rPr lang="en-GB" b="1" dirty="0"/>
              <a:t>≈49k rows</a:t>
            </a:r>
            <a:r>
              <a:rPr lang="en-GB" dirty="0"/>
              <a:t> in </a:t>
            </a:r>
            <a:r>
              <a:rPr lang="en-GB" dirty="0" err="1"/>
              <a:t>fake_news_final.tsv</a:t>
            </a:r>
            <a:r>
              <a:rPr lang="en-GB" dirty="0"/>
              <a:t> (check splits/labels in notebook).</a:t>
            </a:r>
          </a:p>
          <a:p>
            <a:r>
              <a:rPr lang="en-GB" dirty="0"/>
              <a:t>Reproducible </a:t>
            </a:r>
            <a:r>
              <a:rPr lang="en-GB" b="1" dirty="0"/>
              <a:t>Python pipeline</a:t>
            </a:r>
            <a:r>
              <a:rPr lang="en-GB" dirty="0"/>
              <a:t> + </a:t>
            </a:r>
            <a:r>
              <a:rPr lang="en-GB" b="1" dirty="0"/>
              <a:t>EDA / QA notebook</a:t>
            </a:r>
            <a:r>
              <a:rPr lang="en-GB" dirty="0"/>
              <a:t> for profiling.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491538-16F0-3DB1-70D7-0CFB8ECE5638}"/>
              </a:ext>
            </a:extLst>
          </p:cNvPr>
          <p:cNvSpPr/>
          <p:nvPr/>
        </p:nvSpPr>
        <p:spPr>
          <a:xfrm>
            <a:off x="28873450" y="20396021"/>
            <a:ext cx="13022690" cy="75516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094D534-72E9-884F-6F6B-7F0E9CC0A096}"/>
              </a:ext>
            </a:extLst>
          </p:cNvPr>
          <p:cNvSpPr txBox="1">
            <a:spLocks/>
          </p:cNvSpPr>
          <p:nvPr/>
        </p:nvSpPr>
        <p:spPr>
          <a:xfrm>
            <a:off x="29389868" y="20882780"/>
            <a:ext cx="12062932" cy="97089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4400" b="0" i="0" kern="1200" smtClean="0">
                <a:solidFill>
                  <a:srgbClr val="271E3D"/>
                </a:solidFill>
                <a:effectLst/>
                <a:latin typeface="+mj-lt"/>
                <a:ea typeface="+mn-ea"/>
                <a:cs typeface="+mn-cs"/>
              </a:defRPr>
            </a:lvl1pPr>
            <a:lvl2pPr marL="97541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4238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2pPr>
            <a:lvl3pPr marL="195083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282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3pPr>
            <a:lvl4pPr marL="2926253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4pPr>
            <a:lvl5pPr marL="3901670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Next Steps &amp; Expected Contribution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1627668D-BADD-9A2D-1D81-2329CA8D3255}"/>
              </a:ext>
            </a:extLst>
          </p:cNvPr>
          <p:cNvSpPr txBox="1">
            <a:spLocks/>
          </p:cNvSpPr>
          <p:nvPr/>
        </p:nvSpPr>
        <p:spPr>
          <a:xfrm>
            <a:off x="29389619" y="21853677"/>
            <a:ext cx="12063181" cy="426174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300" b="0" i="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 </a:t>
            </a:r>
            <a:r>
              <a:rPr lang="en-GB" b="1" dirty="0"/>
              <a:t>clear, reproducible data path</a:t>
            </a:r>
            <a:r>
              <a:rPr lang="en-GB" dirty="0"/>
              <a:t> from raw sources to a </a:t>
            </a:r>
            <a:r>
              <a:rPr lang="en-GB" b="1" dirty="0"/>
              <a:t>gated multimodal cohort</a:t>
            </a:r>
            <a:r>
              <a:rPr lang="en-GB" dirty="0"/>
              <a:t>.</a:t>
            </a:r>
          </a:p>
          <a:p>
            <a:r>
              <a:rPr lang="en-GB" dirty="0"/>
              <a:t>Empirical comparison of </a:t>
            </a:r>
            <a:r>
              <a:rPr lang="en-GB" b="1" dirty="0"/>
              <a:t>fusion strategies</a:t>
            </a:r>
            <a:r>
              <a:rPr lang="en-GB" dirty="0"/>
              <a:t> and </a:t>
            </a:r>
            <a:r>
              <a:rPr lang="en-GB" b="1" dirty="0"/>
              <a:t>modality combinations</a:t>
            </a:r>
            <a:r>
              <a:rPr lang="en-GB" dirty="0"/>
              <a:t>, with honest limits (heuristic image QC, platform shift, etc.).</a:t>
            </a:r>
          </a:p>
          <a:p>
            <a:pPr>
              <a:defRPr/>
            </a:pPr>
            <a:r>
              <a:rPr lang="en-GB" dirty="0"/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A1A634-31DC-BA92-0523-00E6EF4597D5}"/>
              </a:ext>
            </a:extLst>
          </p:cNvPr>
          <p:cNvCxnSpPr>
            <a:cxnSpLocks/>
          </p:cNvCxnSpPr>
          <p:nvPr/>
        </p:nvCxnSpPr>
        <p:spPr>
          <a:xfrm flipH="1">
            <a:off x="14629154" y="6468137"/>
            <a:ext cx="76262" cy="21620185"/>
          </a:xfrm>
          <a:prstGeom prst="line">
            <a:avLst/>
          </a:prstGeom>
          <a:ln w="31750">
            <a:solidFill>
              <a:srgbClr val="271E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3866EF9A-1519-1E4E-2E64-99AF27736C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640025"/>
              </p:ext>
            </p:extLst>
          </p:nvPr>
        </p:nvGraphicFramePr>
        <p:xfrm>
          <a:off x="15048503" y="18684193"/>
          <a:ext cx="12850622" cy="5879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4FC3C365-4492-6EF8-431D-7C1992A07EE0}"/>
              </a:ext>
            </a:extLst>
          </p:cNvPr>
          <p:cNvSpPr txBox="1">
            <a:spLocks/>
          </p:cNvSpPr>
          <p:nvPr/>
        </p:nvSpPr>
        <p:spPr>
          <a:xfrm>
            <a:off x="15104553" y="24955702"/>
            <a:ext cx="13284199" cy="299194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3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Next steps </a:t>
            </a:r>
          </a:p>
          <a:p>
            <a:r>
              <a:rPr lang="en-GB" b="1" dirty="0"/>
              <a:t>Baselines:</a:t>
            </a:r>
            <a:r>
              <a:rPr lang="en-GB" dirty="0"/>
              <a:t> text-only and image-only models on the gated subset; then </a:t>
            </a:r>
            <a:r>
              <a:rPr lang="en-GB" b="1" dirty="0"/>
              <a:t>multimodal fusion</a:t>
            </a:r>
            <a:r>
              <a:rPr lang="en-GB" dirty="0"/>
              <a:t> comparisons (RQ2–RQ3).</a:t>
            </a:r>
          </a:p>
          <a:p>
            <a:r>
              <a:rPr lang="en-GB" dirty="0"/>
              <a:t>Report </a:t>
            </a:r>
            <a:r>
              <a:rPr lang="en-GB" b="1" dirty="0"/>
              <a:t>metrics + runtime</a:t>
            </a:r>
            <a:r>
              <a:rPr lang="en-GB" dirty="0"/>
              <a:t> (RQ1).</a:t>
            </a:r>
          </a:p>
          <a:p>
            <a:r>
              <a:rPr lang="en-GB" b="1" dirty="0" err="1"/>
              <a:t>Gradio</a:t>
            </a:r>
            <a:r>
              <a:rPr lang="en-GB" dirty="0"/>
              <a:t> proof-of-concept for interactive demo.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CF8C47C6-9807-D6A0-F00B-6103E5D9E917}"/>
              </a:ext>
            </a:extLst>
          </p:cNvPr>
          <p:cNvSpPr txBox="1">
            <a:spLocks/>
          </p:cNvSpPr>
          <p:nvPr/>
        </p:nvSpPr>
        <p:spPr>
          <a:xfrm>
            <a:off x="28891218" y="7803558"/>
            <a:ext cx="13015608" cy="4936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3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Planned modelling (high level)</a:t>
            </a:r>
            <a:endParaRPr lang="en-GB" dirty="0"/>
          </a:p>
          <a:p>
            <a:r>
              <a:rPr lang="en-GB" b="1" dirty="0"/>
              <a:t>Unimodal baselines</a:t>
            </a:r>
            <a:r>
              <a:rPr lang="en-GB" dirty="0"/>
              <a:t> (e.g. transformer text encoder; CNN/</a:t>
            </a:r>
            <a:r>
              <a:rPr lang="en-GB" dirty="0" err="1"/>
              <a:t>ViT</a:t>
            </a:r>
            <a:r>
              <a:rPr lang="en-GB" dirty="0"/>
              <a:t>-style image encoder).</a:t>
            </a:r>
          </a:p>
          <a:p>
            <a:r>
              <a:rPr lang="en-GB" b="1" dirty="0"/>
              <a:t>Multimodal fusion</a:t>
            </a:r>
            <a:r>
              <a:rPr lang="en-GB" dirty="0"/>
              <a:t> variants for </a:t>
            </a:r>
            <a:r>
              <a:rPr lang="en-GB" b="1" dirty="0"/>
              <a:t>RQ2</a:t>
            </a:r>
            <a:r>
              <a:rPr lang="en-GB" dirty="0"/>
              <a:t>; ablations for </a:t>
            </a:r>
            <a:r>
              <a:rPr lang="en-GB" b="1" dirty="0"/>
              <a:t>RQ3</a:t>
            </a:r>
            <a:r>
              <a:rPr lang="en-GB" dirty="0"/>
              <a:t>.</a:t>
            </a:r>
          </a:p>
          <a:p>
            <a:r>
              <a:rPr lang="en-GB" b="1" dirty="0"/>
              <a:t>Evaluation:</a:t>
            </a:r>
            <a:r>
              <a:rPr lang="en-GB" dirty="0"/>
              <a:t> accuracy / F1, efficiency, error analysis; cross-dataset generalisation where feasible.</a:t>
            </a:r>
          </a:p>
        </p:txBody>
      </p:sp>
      <p:sp>
        <p:nvSpPr>
          <p:cNvPr id="33" name="Picture Placeholder 25">
            <a:extLst>
              <a:ext uri="{FF2B5EF4-FFF2-40B4-BE49-F238E27FC236}">
                <a16:creationId xmlns:a16="http://schemas.microsoft.com/office/drawing/2014/main" id="{F0DF28D8-18DE-1475-A7EC-6B691E964A41}"/>
              </a:ext>
            </a:extLst>
          </p:cNvPr>
          <p:cNvSpPr txBox="1">
            <a:spLocks/>
          </p:cNvSpPr>
          <p:nvPr/>
        </p:nvSpPr>
        <p:spPr>
          <a:xfrm>
            <a:off x="28689592" y="12016458"/>
            <a:ext cx="6298185" cy="6209114"/>
          </a:xfrm>
          <a:prstGeom prst="rect">
            <a:avLst/>
          </a:prstGeom>
          <a:solidFill>
            <a:srgbClr val="A4A0AE"/>
          </a:solidFill>
        </p:spPr>
        <p:txBody>
          <a:bodyPr anchor="ctr"/>
          <a:lstStyle>
            <a:lvl1pPr marL="0" indent="0" algn="ctr" defTabSz="1950836" rtl="0" eaLnBrk="1" latinLnBrk="0" hangingPunct="1">
              <a:lnSpc>
                <a:spcPct val="90000"/>
              </a:lnSpc>
              <a:spcBef>
                <a:spcPts val="2134"/>
              </a:spcBef>
              <a:buFont typeface="Arial" panose="020B0604020202020204" pitchFamily="34" charset="0"/>
              <a:buNone/>
              <a:defRPr sz="5972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Insert your 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34" name="Picture Placeholder 25">
            <a:extLst>
              <a:ext uri="{FF2B5EF4-FFF2-40B4-BE49-F238E27FC236}">
                <a16:creationId xmlns:a16="http://schemas.microsoft.com/office/drawing/2014/main" id="{5825419F-B77E-7B79-2D0E-C184DB712D5A}"/>
              </a:ext>
            </a:extLst>
          </p:cNvPr>
          <p:cNvSpPr txBox="1">
            <a:spLocks/>
          </p:cNvSpPr>
          <p:nvPr/>
        </p:nvSpPr>
        <p:spPr>
          <a:xfrm>
            <a:off x="35375845" y="11987505"/>
            <a:ext cx="6298185" cy="6209114"/>
          </a:xfrm>
          <a:prstGeom prst="rect">
            <a:avLst/>
          </a:prstGeom>
          <a:solidFill>
            <a:srgbClr val="A4A0AE"/>
          </a:solidFill>
        </p:spPr>
        <p:txBody>
          <a:bodyPr anchor="ctr"/>
          <a:lstStyle>
            <a:lvl1pPr marL="0" indent="0" algn="ctr" defTabSz="1950836" rtl="0" eaLnBrk="1" latinLnBrk="0" hangingPunct="1">
              <a:lnSpc>
                <a:spcPct val="90000"/>
              </a:lnSpc>
              <a:spcBef>
                <a:spcPts val="2134"/>
              </a:spcBef>
              <a:buFont typeface="Arial" panose="020B0604020202020204" pitchFamily="34" charset="0"/>
              <a:buNone/>
              <a:defRPr sz="5972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Insert your 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BCCD8-6118-9676-7905-F2D76CA31D2A}"/>
              </a:ext>
            </a:extLst>
          </p:cNvPr>
          <p:cNvCxnSpPr>
            <a:cxnSpLocks/>
          </p:cNvCxnSpPr>
          <p:nvPr/>
        </p:nvCxnSpPr>
        <p:spPr>
          <a:xfrm flipH="1">
            <a:off x="28426888" y="6432968"/>
            <a:ext cx="76262" cy="21620185"/>
          </a:xfrm>
          <a:prstGeom prst="line">
            <a:avLst/>
          </a:prstGeom>
          <a:ln w="31750">
            <a:solidFill>
              <a:srgbClr val="271E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EF1C359-3D0E-B888-2228-D761BF3485D4}"/>
              </a:ext>
            </a:extLst>
          </p:cNvPr>
          <p:cNvCxnSpPr>
            <a:cxnSpLocks/>
          </p:cNvCxnSpPr>
          <p:nvPr/>
        </p:nvCxnSpPr>
        <p:spPr>
          <a:xfrm>
            <a:off x="1293811" y="28347768"/>
            <a:ext cx="40576502" cy="0"/>
          </a:xfrm>
          <a:prstGeom prst="line">
            <a:avLst/>
          </a:prstGeom>
          <a:ln w="31750">
            <a:solidFill>
              <a:srgbClr val="271E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F616FBD-01D6-BC96-AC74-2C5AEB43F792}"/>
              </a:ext>
            </a:extLst>
          </p:cNvPr>
          <p:cNvSpPr txBox="1">
            <a:spLocks/>
          </p:cNvSpPr>
          <p:nvPr/>
        </p:nvSpPr>
        <p:spPr>
          <a:xfrm>
            <a:off x="28896065" y="6839264"/>
            <a:ext cx="12780714" cy="9709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1950836" rtl="0" eaLnBrk="1" fontAlgn="auto" latinLnBrk="0" hangingPunct="1">
              <a:lnSpc>
                <a:spcPct val="90000"/>
              </a:lnSpc>
              <a:spcBef>
                <a:spcPts val="2134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4400" b="0" i="0" kern="1200" smtClean="0">
                <a:solidFill>
                  <a:srgbClr val="271E3D"/>
                </a:solidFill>
                <a:effectLst/>
                <a:latin typeface="+mj-lt"/>
                <a:ea typeface="+mn-ea"/>
                <a:cs typeface="+mn-cs"/>
              </a:defRPr>
            </a:lvl1pPr>
            <a:lvl2pPr marL="97541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4238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2pPr>
            <a:lvl3pPr marL="1950836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282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3pPr>
            <a:lvl4pPr marL="2926253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4pPr>
            <a:lvl5pPr marL="3901670" indent="0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Tx/>
              <a:buNone/>
              <a:defRPr sz="6215" b="0" i="0" kern="1200">
                <a:solidFill>
                  <a:srgbClr val="271E3D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Methods outlook &amp; contribution</a:t>
            </a:r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DBA61-4DFE-7D7A-3572-0D36CEFE7E0A}"/>
              </a:ext>
            </a:extLst>
          </p:cNvPr>
          <p:cNvSpPr txBox="1"/>
          <p:nvPr/>
        </p:nvSpPr>
        <p:spPr>
          <a:xfrm>
            <a:off x="-9576787" y="1018575"/>
            <a:ext cx="7517080" cy="5207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Please keep all images and text within the orange guides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DFF4591C-AF5B-0FF6-377C-7D221F9E6A4C}"/>
              </a:ext>
            </a:extLst>
          </p:cNvPr>
          <p:cNvSpPr txBox="1">
            <a:spLocks/>
          </p:cNvSpPr>
          <p:nvPr/>
        </p:nvSpPr>
        <p:spPr>
          <a:xfrm>
            <a:off x="7084927" y="13008336"/>
            <a:ext cx="6719143" cy="3306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1950836" rtl="0" eaLnBrk="1" latinLnBrk="0" hangingPunct="1">
              <a:lnSpc>
                <a:spcPct val="90000"/>
              </a:lnSpc>
              <a:spcBef>
                <a:spcPts val="2134"/>
              </a:spcBef>
              <a:buFont typeface="Arial" panose="020B0604020202020204" pitchFamily="34" charset="0"/>
              <a:buNone/>
              <a:defRPr sz="33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 err="1">
                <a:solidFill>
                  <a:schemeClr val="tx2"/>
                </a:solidFill>
              </a:rPr>
              <a:t>FAKE:</a:t>
            </a:r>
            <a:r>
              <a:rPr lang="en-GB" dirty="0" err="1">
                <a:solidFill>
                  <a:schemeClr val="tx2"/>
                </a:solidFill>
              </a:rPr>
              <a:t>“Trump</a:t>
            </a:r>
            <a:r>
              <a:rPr lang="en-GB" dirty="0">
                <a:solidFill>
                  <a:schemeClr val="tx2"/>
                </a:solidFill>
              </a:rPr>
              <a:t> Labels News Media ‘Enemy Of The American People’”</a:t>
            </a:r>
          </a:p>
          <a:p>
            <a:r>
              <a:rPr lang="en-GB" b="1" dirty="0" err="1">
                <a:solidFill>
                  <a:schemeClr val="tx2"/>
                </a:solidFill>
              </a:rPr>
              <a:t>FakeNewsNet</a:t>
            </a:r>
            <a:r>
              <a:rPr lang="en-GB" b="1" dirty="0">
                <a:solidFill>
                  <a:schemeClr val="tx2"/>
                </a:solidFill>
              </a:rPr>
              <a:t> / </a:t>
            </a:r>
            <a:r>
              <a:rPr lang="en-GB" b="1" dirty="0" err="1">
                <a:solidFill>
                  <a:schemeClr val="tx2"/>
                </a:solidFill>
              </a:rPr>
              <a:t>GossipCop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dirty="0" err="1">
                <a:solidFill>
                  <a:schemeClr val="tx2"/>
                </a:solidFill>
              </a:rPr>
              <a:t>sample_id</a:t>
            </a:r>
            <a:r>
              <a:rPr lang="en-GB" dirty="0">
                <a:solidFill>
                  <a:schemeClr val="tx2"/>
                </a:solidFill>
              </a:rPr>
              <a:t>: fnn:gossipcop:fake:gossipcop-4373322193</a:t>
            </a:r>
          </a:p>
        </p:txBody>
      </p:sp>
      <p:pic>
        <p:nvPicPr>
          <p:cNvPr id="46" name="Picture 45" descr="A person in a suit walking with microphones&#10;&#10;AI-generated content may be incorrect.">
            <a:extLst>
              <a:ext uri="{FF2B5EF4-FFF2-40B4-BE49-F238E27FC236}">
                <a16:creationId xmlns:a16="http://schemas.microsoft.com/office/drawing/2014/main" id="{BD2E06D3-D3B5-C5F0-C32A-545EE5227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089" y="12901494"/>
            <a:ext cx="4891770" cy="3419499"/>
          </a:xfrm>
          <a:prstGeom prst="rect">
            <a:avLst/>
          </a:prstGeom>
        </p:spPr>
      </p:pic>
      <p:pic>
        <p:nvPicPr>
          <p:cNvPr id="48" name="Picture 47" descr="A group of people wearing hard hats&#10;&#10;AI-generated content may be incorrect.">
            <a:extLst>
              <a:ext uri="{FF2B5EF4-FFF2-40B4-BE49-F238E27FC236}">
                <a16:creationId xmlns:a16="http://schemas.microsoft.com/office/drawing/2014/main" id="{8DE18489-D6A2-8746-CA80-2D79CA5B3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865" y="16620563"/>
            <a:ext cx="4917994" cy="3210018"/>
          </a:xfrm>
          <a:prstGeom prst="rect">
            <a:avLst/>
          </a:prstGeom>
        </p:spPr>
      </p:pic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03E1F1DF-8615-A6A4-2DD0-982B6CC0CDD0}"/>
              </a:ext>
            </a:extLst>
          </p:cNvPr>
          <p:cNvSpPr txBox="1">
            <a:spLocks/>
          </p:cNvSpPr>
          <p:nvPr/>
        </p:nvSpPr>
        <p:spPr>
          <a:xfrm>
            <a:off x="7039946" y="16771954"/>
            <a:ext cx="6719143" cy="33067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1950836" rtl="0" eaLnBrk="1" latinLnBrk="0" hangingPunct="1">
              <a:lnSpc>
                <a:spcPct val="90000"/>
              </a:lnSpc>
              <a:spcBef>
                <a:spcPts val="2134"/>
              </a:spcBef>
              <a:buFont typeface="Arial" panose="020B0604020202020204" pitchFamily="34" charset="0"/>
              <a:buNone/>
              <a:defRPr sz="33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463128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5119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438547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4266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41396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89381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6480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340220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15639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91055" indent="-487711" algn="l" defTabSz="1950836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38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REAL:</a:t>
            </a:r>
            <a:r>
              <a:rPr lang="en-GB" dirty="0">
                <a:solidFill>
                  <a:schemeClr val="tx1"/>
                </a:solidFill>
              </a:rPr>
              <a:t> “At Trump hotel site, immigrant workers wary”</a:t>
            </a:r>
          </a:p>
          <a:p>
            <a:br>
              <a:rPr lang="en-GB" dirty="0">
                <a:solidFill>
                  <a:schemeClr val="tx1"/>
                </a:solidFill>
              </a:rPr>
            </a:br>
            <a:r>
              <a:rPr lang="en-GB" b="1" dirty="0" err="1">
                <a:solidFill>
                  <a:schemeClr val="tx1"/>
                </a:solidFill>
              </a:rPr>
              <a:t>FakeNewsNet</a:t>
            </a:r>
            <a:r>
              <a:rPr lang="en-GB" b="1" dirty="0">
                <a:solidFill>
                  <a:schemeClr val="tx1"/>
                </a:solidFill>
              </a:rPr>
              <a:t> / PolitiFact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 err="1">
                <a:solidFill>
                  <a:schemeClr val="tx1"/>
                </a:solidFill>
              </a:rPr>
              <a:t>sample_id</a:t>
            </a:r>
            <a:r>
              <a:rPr lang="en-GB" dirty="0">
                <a:solidFill>
                  <a:schemeClr val="tx1"/>
                </a:solidFill>
              </a:rPr>
              <a:t>: fnn:politifact:real:politifact13310</a:t>
            </a:r>
          </a:p>
        </p:txBody>
      </p:sp>
    </p:spTree>
    <p:extLst>
      <p:ext uri="{BB962C8B-B14F-4D97-AF65-F5344CB8AC3E}">
        <p14:creationId xmlns:p14="http://schemas.microsoft.com/office/powerpoint/2010/main" val="778014350"/>
      </p:ext>
    </p:extLst>
  </p:cSld>
  <p:clrMapOvr>
    <a:masterClrMapping/>
  </p:clrMapOvr>
</p:sld>
</file>

<file path=ppt/theme/theme1.xml><?xml version="1.0" encoding="utf-8"?>
<a:theme xmlns:a="http://schemas.openxmlformats.org/drawingml/2006/main" name="keeletheme-widescreen">
  <a:themeElements>
    <a:clrScheme name="Keele Colours">
      <a:dk1>
        <a:srgbClr val="282541"/>
      </a:dk1>
      <a:lt1>
        <a:srgbClr val="FEFFFE"/>
      </a:lt1>
      <a:dk2>
        <a:srgbClr val="282541"/>
      </a:dk2>
      <a:lt2>
        <a:srgbClr val="FEFFFE"/>
      </a:lt2>
      <a:accent1>
        <a:srgbClr val="342A4E"/>
      </a:accent1>
      <a:accent2>
        <a:srgbClr val="5D566D"/>
      </a:accent2>
      <a:accent3>
        <a:srgbClr val="938E9E"/>
      </a:accent3>
      <a:accent4>
        <a:srgbClr val="EDCE28"/>
      </a:accent4>
      <a:accent5>
        <a:srgbClr val="DC3719"/>
      </a:accent5>
      <a:accent6>
        <a:srgbClr val="47AE65"/>
      </a:accent6>
      <a:hlink>
        <a:srgbClr val="665D78"/>
      </a:hlink>
      <a:folHlink>
        <a:srgbClr val="655E77"/>
      </a:folHlink>
    </a:clrScheme>
    <a:fontScheme name="Keele Fonts">
      <a:majorFont>
        <a:latin typeface="Palatino Linotype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eeletheme-widescreen" id="{ED877600-EBE8-0F47-B29E-7D88887687C3}" vid="{9AA46253-BB01-0A46-B354-D8C3ABC1EE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CC189C220F54692A13C843A73629E" ma:contentTypeVersion="12" ma:contentTypeDescription="Create a new document." ma:contentTypeScope="" ma:versionID="4a849f95ab8716dd690176e9a5f38b41">
  <xsd:schema xmlns:xsd="http://www.w3.org/2001/XMLSchema" xmlns:xs="http://www.w3.org/2001/XMLSchema" xmlns:p="http://schemas.microsoft.com/office/2006/metadata/properties" xmlns:ns2="8c782783-32b0-4dcc-b311-37def6eee61e" xmlns:ns3="dd29aa29-5ec4-41d6-a8f0-1c0d3d335484" targetNamespace="http://schemas.microsoft.com/office/2006/metadata/properties" ma:root="true" ma:fieldsID="5ceff4bba0b7f9d2a7a698d670eee54d" ns2:_="" ns3:_="">
    <xsd:import namespace="8c782783-32b0-4dcc-b311-37def6eee61e"/>
    <xsd:import namespace="dd29aa29-5ec4-41d6-a8f0-1c0d3d3354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82783-32b0-4dcc-b311-37def6eee6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abd5989-7fff-46ea-aeef-f8575643eb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29aa29-5ec4-41d6-a8f0-1c0d3d33548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c57a1b9-1f9a-4d03-82c0-ac639436a4dc}" ma:internalName="TaxCatchAll" ma:showField="CatchAllData" ma:web="dd29aa29-5ec4-41d6-a8f0-1c0d3d3354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29aa29-5ec4-41d6-a8f0-1c0d3d335484" xsi:nil="true"/>
    <lcf76f155ced4ddcb4097134ff3c332f xmlns="8c782783-32b0-4dcc-b311-37def6eee61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C44C14-A229-44B2-8FB3-EA92AA79EF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806F9-6698-4D9B-9D3F-19FAEF486C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782783-32b0-4dcc-b311-37def6eee61e"/>
    <ds:schemaRef ds:uri="dd29aa29-5ec4-41d6-a8f0-1c0d3d3354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7AC7C10-787C-438C-83F9-D4735B3AC646}">
  <ds:schemaRefs>
    <ds:schemaRef ds:uri="http://schemas.microsoft.com/office/2006/metadata/properties"/>
    <ds:schemaRef ds:uri="http://schemas.microsoft.com/office/infopath/2007/PartnerControls"/>
    <ds:schemaRef ds:uri="dd29aa29-5ec4-41d6-a8f0-1c0d3d335484"/>
    <ds:schemaRef ds:uri="8c782783-32b0-4dcc-b311-37def6eee61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50208</TotalTime>
  <Words>535</Words>
  <Application>Microsoft Macintosh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Palatino Linotype</vt:lpstr>
      <vt:lpstr>keeletheme-widescreen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Cheryl Belford</dc:creator>
  <cp:lastModifiedBy>Mark Phillips</cp:lastModifiedBy>
  <cp:revision>98</cp:revision>
  <dcterms:created xsi:type="dcterms:W3CDTF">2021-03-17T15:09:57Z</dcterms:created>
  <dcterms:modified xsi:type="dcterms:W3CDTF">2026-04-20T17:54:42Z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0x0101002D6CC189C220F54692A13C843A73629E</vt:lpwstr>
  </property>
</Properties>
</file>